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Raheem/Desktop/Twala/homeward-diaspora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498080" cy="6858000"/>
          </a:xfrm>
          <a:prstGeom prst="rect">
            <a:avLst/>
          </a:prstGeom>
          <a:solidFill>
            <a:srgbClr val="061E25">
              <a:alpha val="95000"/>
            </a:srgbClr>
          </a:solidFill>
          <a:ln w="12700">
            <a:solidFill>
              <a:srgbClr val="061E25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543800" y="-1051560"/>
            <a:ext cx="5577840" cy="5577840"/>
          </a:xfrm>
          <a:prstGeom prst="arc">
            <a:avLst/>
          </a:prstGeom>
          <a:solidFill>
            <a:srgbClr val="063A45">
              <a:alpha val="0"/>
            </a:srgbClr>
          </a:solidFill>
          <a:ln w="139700">
            <a:solidFill>
              <a:srgbClr val="008A68">
                <a:alpha val="75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412480" y="2834640"/>
            <a:ext cx="4023360" cy="4023360"/>
          </a:xfrm>
          <a:prstGeom prst="arc">
            <a:avLst/>
          </a:prstGeom>
          <a:solidFill>
            <a:srgbClr val="063A45">
              <a:alpha val="0"/>
            </a:srgbClr>
          </a:solidFill>
          <a:ln w="88900">
            <a:solidFill>
              <a:srgbClr val="C9F04A">
                <a:alpha val="75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594360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61264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60-SECOND STORY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685800" y="1298448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Sunday sends money home</a:t>
            </a:r>
            <a:endParaRPr lang="en-US" sz="3300" dirty="0"/>
          </a:p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month.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713232" y="24871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 after pressing send, she still asks: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13232" y="2999232"/>
            <a:ext cx="6126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"Did it reach the right person?</a:t>
            </a:r>
            <a:endParaRPr lang="en-US" sz="2300" dirty="0"/>
          </a:p>
          <a:p>
            <a:pPr algn="l" indent="0" marL="0">
              <a:buNone/>
            </a:pPr>
            <a:r>
              <a:rPr lang="en-US" sz="2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did it actually achieve?"</a:t>
            </a:r>
            <a:endParaRPr lang="en-US" sz="2300" dirty="0"/>
          </a:p>
        </p:txBody>
      </p:sp>
      <p:sp>
        <p:nvSpPr>
          <p:cNvPr id="11" name="Shape 8"/>
          <p:cNvSpPr/>
          <p:nvPr/>
        </p:nvSpPr>
        <p:spPr>
          <a:xfrm>
            <a:off x="685800" y="4892040"/>
            <a:ext cx="5029200" cy="713232"/>
          </a:xfrm>
          <a:prstGeom prst="roundRect">
            <a:avLst>
              <a:gd name="adj" fmla="val 20513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5038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turns a transfer into 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family commitment.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85800" y="61447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98080" y="614476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Purpose. Proof. Peace of mind.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hidden cost of remittance is uncertainty.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Families are not only paying fees. They are carrying anxiety after every transfer.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" y="2679192"/>
            <a:ext cx="109728" cy="109728"/>
          </a:xfrm>
          <a:prstGeom prst="ellipse">
            <a:avLst/>
          </a:prstGeom>
          <a:solidFill>
            <a:srgbClr val="D76464"/>
          </a:solidFill>
          <a:ln w="12700">
            <a:solidFill>
              <a:srgbClr val="D7646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6128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183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Wrong-recipient fear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4183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number can be wrong, changed, or shared. The sender needs confidence before money moves.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45152" y="2679192"/>
            <a:ext cx="109728" cy="109728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6460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4515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Invisible family outcomes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4515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School fees, rent, land and medicine disappear into a generic transaction history.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2359152"/>
            <a:ext cx="3246120" cy="26060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48472" y="2679192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67928" y="2615184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48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and literacy barriers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48472" y="36576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English and complex screens exclude users who prefer local languages or voice.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358384"/>
            <a:ext cx="10808208" cy="530352"/>
          </a:xfrm>
          <a:prstGeom prst="roundRect">
            <a:avLst>
              <a:gd name="adj" fmla="val 27586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513832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transfer should feel like a promise kept - not a message sent into the dark.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makes family support visible, safer, and easier to understand.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6771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49631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57860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81912" y="245059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Trusted Recipient Passport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81912" y="2798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name, phone, network, relationship, history and changed-detail warning.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226771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249631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57860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68312" y="245059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Purpose-led transfer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068312" y="27980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expected UGX, fee, rate and reason before the sender confirms.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368503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6112" y="391363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399592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81912" y="386791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Goals and Circles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81912" y="4215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Organise school fees, land, construction and recurring family support.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685032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913632"/>
            <a:ext cx="475488" cy="475488"/>
          </a:xfrm>
          <a:prstGeom prst="roundRect">
            <a:avLst>
              <a:gd name="adj" fmla="val 30769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99592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68312" y="386791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after payment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068312" y="421538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Receipt, history, SMS sandbox update and independently verifiable Stellar proof.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48640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56692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INCLUSIVE BY DESIGN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152144"/>
            <a:ext cx="6217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money app should not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financial English.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713232" y="2359152"/>
            <a:ext cx="5486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integrates Sunbird AI so people can navigate and ask for help in familiar Ugandan languages.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77240" y="343814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337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Luganda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971800" y="33375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Persistent language across core screens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403250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931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Speak naturally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971800" y="3931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Speech-to-text for the assistant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462686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 guidance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971800" y="4526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Text-to-speech support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5221224"/>
            <a:ext cx="109728" cy="109728"/>
          </a:xfrm>
          <a:prstGeom prst="ellipse">
            <a:avLst/>
          </a:prstGeom>
          <a:solidFill>
            <a:srgbClr val="C9F04A"/>
          </a:solidFill>
          <a:ln w="12700">
            <a:solidFill>
              <a:srgbClr val="C9F04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5120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in control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71800" y="51206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Voice and AI never bypass confirmation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543800" y="1188720"/>
            <a:ext cx="3200400" cy="4160520"/>
          </a:xfrm>
          <a:prstGeom prst="roundRect">
            <a:avLst>
              <a:gd name="adj" fmla="val 4571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095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SUNBIRD 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882128" y="248716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is not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feature.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access.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065008" y="395935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 out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172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| Sunbird AI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BLOCKCHAIN MOMENT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Judges can inspect the proof - not just trust the interface.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provisions a user wallet and sends Test USDC on Stellar Testnet.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86000"/>
            <a:ext cx="5029200" cy="3063240"/>
          </a:xfrm>
          <a:prstGeom prst="roundRect">
            <a:avLst>
              <a:gd name="adj" fmla="val 4776"/>
            </a:avLst>
          </a:prstGeom>
          <a:solidFill>
            <a:srgbClr val="063A45"/>
          </a:solidFill>
          <a:ln w="12700">
            <a:solidFill>
              <a:srgbClr val="063A4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6517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IN THE DEMO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USDC moves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Stellar Testnet.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05840" y="4160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successful transfer exposes its transaction hash and a one-tap Stellar explorer link.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2286000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29400" y="2487168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578608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69480" y="24140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wallet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69480" y="269748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Individual Testnet wallet and USDC trustline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0" y="3310128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3511296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360273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269480" y="343814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On-chain transfer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69480" y="3721608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transaction is submitted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4334256"/>
            <a:ext cx="5029200" cy="832104"/>
          </a:xfrm>
          <a:prstGeom prst="roundRect">
            <a:avLst>
              <a:gd name="adj" fmla="val 175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29400" y="4535424"/>
            <a:ext cx="384048" cy="384048"/>
          </a:xfrm>
          <a:prstGeom prst="roundRect">
            <a:avLst>
              <a:gd name="adj" fmla="val 3809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4626864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69480" y="4462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receipt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69480" y="4745736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 opens in Stellar Expert Testnet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JOURNEY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simple experience. Licensed partners handle regulated steps.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is the trust and experience layer - not a bank or unlicensed money transmitter.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recipient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Passport + purpose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752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1752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1752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 abroad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1752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partner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KYC + AED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0060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6636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063A45"/>
          </a:solidFill>
          <a:ln w="12700">
            <a:solidFill>
              <a:srgbClr val="063A4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4924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34924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Settle value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34924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USDC on Stellar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3232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68096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 UGX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68096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Licensed partner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MTN / Airtel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464040" y="3355848"/>
            <a:ext cx="228600" cy="274320"/>
          </a:xfrm>
          <a:prstGeom prst="chevron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829800" y="2487168"/>
            <a:ext cx="1920240" cy="1965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12680" y="2724912"/>
            <a:ext cx="365760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12680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012680" y="33101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proof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012680" y="377647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Receipt + history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5074920"/>
            <a:ext cx="10789920" cy="594360"/>
          </a:xfrm>
          <a:prstGeom prst="roundRect">
            <a:avLst>
              <a:gd name="adj" fmla="val 24615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5257800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real Stellar Testnet proof. Production: funding, FX, custody and payout only through regulated partners.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USERS CAN TRUST IT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makes the sender slow down at the moments that matter.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2532888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231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Recipient Passport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188720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person, relationship, network, history and details-change warning.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0488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532888"/>
            <a:ext cx="109728" cy="109728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3408" y="24231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guardrails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693408" y="2770632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 on unfamiliar recipients, changed details, large transfers or missed plans.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5800" y="3630168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3922776"/>
            <a:ext cx="109728" cy="109728"/>
          </a:xfrm>
          <a:prstGeom prst="ellipse">
            <a:avLst/>
          </a:prstGeom>
          <a:solidFill>
            <a:srgbClr val="D76464"/>
          </a:solidFill>
          <a:ln w="12700">
            <a:solidFill>
              <a:srgbClr val="D7646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813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confirmation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can explain and prepare. The user must explicitly confirm payment.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90488" y="3630168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3922776"/>
            <a:ext cx="109728" cy="109728"/>
          </a:xfrm>
          <a:prstGeom prst="ellipse">
            <a:avLst/>
          </a:prstGeom>
          <a:solidFill>
            <a:srgbClr val="008A68"/>
          </a:solidFill>
          <a:ln w="12700">
            <a:solidFill>
              <a:srgbClr val="008A68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38130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by default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693408" y="416052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User-scoped wallets, history, recipients, Goals, Circles and chats.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have shipped proof - not just a concept.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deliberately reporting product evidence instead of inventing user-growth numbers before a regulated pilot.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44144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45973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20240" y="2423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Mobile-first deployed experience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20240" y="27614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Judges can open HomeWard on a phone, register, and complete the core journey.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6190488" y="224028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44144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45973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424928" y="24231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Testnet settlement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24928" y="27614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Individual wallets, Test USDC transfers, hashes and explorer links are in the demo.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85800" y="365760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8587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87705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20240" y="3840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Family-support operating system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41788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Recipient Passports, Goals, Circles, receipts, filters, notifications and transfer guardrails.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6190488" y="3657600"/>
            <a:ext cx="5102352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3858768"/>
            <a:ext cx="804672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387705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ACCESSIBLE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424928" y="384048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Sunbird AI language layer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24928" y="41788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Luganda interface coverage plus speech and conversational support when configured.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685800" y="5257800"/>
            <a:ext cx="10789920" cy="530352"/>
          </a:xfrm>
          <a:prstGeom prst="roundRect">
            <a:avLst>
              <a:gd name="adj" fmla="val 27586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422392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traction milestone: a regulated UAE-to-Uganda pilot with repeat family-support behavior measured in the field.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4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PROOF TO PILOT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next milestone is not more screens. It is a regulated, user-tested corridor.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58368" y="1856232"/>
            <a:ext cx="10844784" cy="0"/>
          </a:xfrm>
          <a:prstGeom prst="line">
            <a:avLst/>
          </a:prstGeom>
          <a:noFill/>
          <a:ln w="12700">
            <a:solidFill>
              <a:srgbClr val="D9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1440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the experience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Stellar Testnet, Recipient Passport, Goals, Circles, Sunbird access and safety guardrails.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1772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demand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with UAE-Uganda families and validate language, trust and repeat-support behavior.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92440" y="2331720"/>
            <a:ext cx="3246120" cy="263347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60604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DFF7EA"/>
          </a:solidFill>
          <a:ln w="12700">
            <a:solidFill>
              <a:srgbClr val="DFF7E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6243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321040" y="3255264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63A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delivery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321040" y="379476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 approved funding and Uganda mobile-money payout partners for a regulated pilot.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5440680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A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are looking for: pilot users, regulated funding/payout partners, and mentors in diaspora finance and accessibility.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6473952"/>
            <a:ext cx="4389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spc="60" kern="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 |  DEVFEST BLOCKCHAIN HACKATHON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064240" y="645566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6076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3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9436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1264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10" kern="0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FINAL THOUGHT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85800" y="1261872"/>
            <a:ext cx="6629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money goes home,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should go with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5897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gives every family transfer a reason, a record, a language people understand, and proof that judges can verify.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52360" y="1097280"/>
            <a:ext cx="3429000" cy="4206240"/>
          </a:xfrm>
          <a:prstGeom prst="roundRect">
            <a:avLst>
              <a:gd name="adj" fmla="val 4267"/>
            </a:avLst>
          </a:prstGeom>
          <a:solidFill>
            <a:srgbClr val="0D5A57"/>
          </a:solidFill>
          <a:ln w="12700">
            <a:solidFill>
              <a:srgbClr val="0D5A57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16642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spc="12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818120" y="2487168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Peace of mind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065008" y="3703320"/>
            <a:ext cx="2194560" cy="0"/>
          </a:xfrm>
          <a:prstGeom prst="line">
            <a:avLst/>
          </a:prstGeom>
          <a:noFill/>
          <a:ln w="12700">
            <a:solidFill>
              <a:srgbClr val="5EA9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4050792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Kamwanga Raheem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Kisakye Abigail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Sunday Emmanuel Lugai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13232" y="61264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F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71232" y="6144768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C9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HomeWard | DevFest Blockchain Hackathon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HomeWard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HomeWard - Purpose, proof and peace of mind</dc:title>
  <dc:subject>HomeWard pitch deck</dc:subject>
  <dc:creator>HomeWard Team</dc:creator>
  <cp:lastModifiedBy>HomeWard Team</cp:lastModifiedBy>
  <cp:revision>1</cp:revision>
  <dcterms:created xsi:type="dcterms:W3CDTF">2026-07-27T10:41:11Z</dcterms:created>
  <dcterms:modified xsi:type="dcterms:W3CDTF">2026-07-27T10:41:11Z</dcterms:modified>
</cp:coreProperties>
</file>