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3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51560"/>
            <a:ext cx="5577840" cy="5577840"/>
          </a:xfrm>
          <a:prstGeom prst="arc">
            <a:avLst/>
          </a:prstGeom>
          <a:solidFill>
            <a:srgbClr val="063A45">
              <a:alpha val="0"/>
            </a:srgbClr>
          </a:solidFill>
          <a:ln w="139700">
            <a:solidFill>
              <a:srgbClr val="008A68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2834640"/>
            <a:ext cx="4023360" cy="4023360"/>
          </a:xfrm>
          <a:prstGeom prst="arc">
            <a:avLst/>
          </a:prstGeom>
          <a:solidFill>
            <a:srgbClr val="063A45">
              <a:alpha val="0"/>
            </a:srgbClr>
          </a:solidFill>
          <a:ln w="88900">
            <a:solidFill>
              <a:srgbClr val="C9F04A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594360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0D5A57"/>
          </a:solidFill>
          <a:ln w="12700">
            <a:solidFill>
              <a:srgbClr val="0D5A5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61264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110" kern="0" dirty="0">
                <a:solidFill>
                  <a:srgbClr val="C9F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60-SECOND STORY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298448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Sunday sends money home</a:t>
            </a:r>
            <a:endParaRPr lang="en-US" sz="3300" dirty="0"/>
          </a:p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month.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713232" y="248716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C9E6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 after pressing send, she still asks: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2999232"/>
            <a:ext cx="6126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C9F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"Did it reach the right person?</a:t>
            </a:r>
            <a:endParaRPr lang="en-US" sz="2300" dirty="0"/>
          </a:p>
          <a:p>
            <a:pPr algn="l" indent="0" marL="0">
              <a:buNone/>
            </a:pPr>
            <a:r>
              <a:rPr lang="en-US" sz="2300" b="1" dirty="0">
                <a:solidFill>
                  <a:srgbClr val="C9F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did it actually achieve?"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685800" y="4892040"/>
            <a:ext cx="5029200" cy="713232"/>
          </a:xfrm>
          <a:prstGeom prst="roundRect">
            <a:avLst>
              <a:gd name="adj" fmla="val 20513"/>
            </a:avLst>
          </a:prstGeom>
          <a:solidFill>
            <a:srgbClr val="0D5A57"/>
          </a:solidFill>
          <a:ln w="12700">
            <a:solidFill>
              <a:srgbClr val="0D5A5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503834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HomeWard turns a transfer into 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trusted family commitment.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61447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HOMEWARD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98080" y="614476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C9E6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Purpose. Proof. Peace of mind.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00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hidden cost of remittance is uncertainty.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35331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Families are not only paying fees. They are carrying anxiety after every transfer.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1856232"/>
            <a:ext cx="10844784" cy="0"/>
          </a:xfrm>
          <a:prstGeom prst="line">
            <a:avLst/>
          </a:prstGeom>
          <a:noFill/>
          <a:ln w="12700">
            <a:solidFill>
              <a:srgbClr val="D9E6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359152"/>
            <a:ext cx="3246120" cy="260604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" y="2679192"/>
            <a:ext cx="109728" cy="109728"/>
          </a:xfrm>
          <a:prstGeom prst="ellipse">
            <a:avLst/>
          </a:prstGeom>
          <a:solidFill>
            <a:srgbClr val="D76464"/>
          </a:solidFill>
          <a:ln w="12700">
            <a:solidFill>
              <a:srgbClr val="D7646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261518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41832" y="3154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Wrong-recipient fear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41832" y="365760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number can be wrong, changed, or shared. The sender needs confidence before money moves.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89120" y="2359152"/>
            <a:ext cx="3246120" cy="260604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45152" y="2679192"/>
            <a:ext cx="109728" cy="109728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261518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45152" y="3154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Invisible family outcomes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45152" y="365760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School fees, rent, land and medicine disappear into a generic transaction history.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92440" y="2359152"/>
            <a:ext cx="3246120" cy="260604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48472" y="2679192"/>
            <a:ext cx="109728" cy="109728"/>
          </a:xfrm>
          <a:prstGeom prst="ellipse">
            <a:avLst/>
          </a:prstGeom>
          <a:solidFill>
            <a:srgbClr val="008A68"/>
          </a:solidFill>
          <a:ln w="12700">
            <a:solidFill>
              <a:srgbClr val="008A6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67928" y="261518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48472" y="3154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 and literacy barriers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348472" y="365760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English and complex screens exclude users who prefer local languages or voice.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5800" y="5358384"/>
            <a:ext cx="10808208" cy="530352"/>
          </a:xfrm>
          <a:prstGeom prst="roundRect">
            <a:avLst>
              <a:gd name="adj" fmla="val 27586"/>
            </a:avLst>
          </a:prstGeom>
          <a:solidFill>
            <a:srgbClr val="DFF7EA"/>
          </a:solidFill>
          <a:ln w="12700">
            <a:solidFill>
              <a:srgbClr val="DFF7E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513832"/>
            <a:ext cx="10332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transfer should feel like a promise kept - not a message sent into the dark.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8368" y="6473952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60" kern="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HOMEWARD  |  DEVFEST BLOCKCHAIN HACKATHON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064240" y="6455664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00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SOLUTION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HomeWard makes family support visible, safer, and easier to understand.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856232"/>
            <a:ext cx="10844784" cy="0"/>
          </a:xfrm>
          <a:prstGeom prst="line">
            <a:avLst/>
          </a:prstGeom>
          <a:noFill/>
          <a:ln w="12700">
            <a:solidFill>
              <a:srgbClr val="D9E6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267712"/>
            <a:ext cx="5102352" cy="1097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496312"/>
            <a:ext cx="475488" cy="475488"/>
          </a:xfrm>
          <a:prstGeom prst="roundRect">
            <a:avLst>
              <a:gd name="adj" fmla="val 30769"/>
            </a:avLst>
          </a:prstGeom>
          <a:solidFill>
            <a:srgbClr val="DFF7EA"/>
          </a:solidFill>
          <a:ln w="12700">
            <a:solidFill>
              <a:srgbClr val="DFF7E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578608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81912" y="245059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Trusted Recipient Passport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581912" y="279806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name, phone, network, relationship, history and changed-detail warning.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2267712"/>
            <a:ext cx="5102352" cy="1097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82512" y="2496312"/>
            <a:ext cx="475488" cy="475488"/>
          </a:xfrm>
          <a:prstGeom prst="roundRect">
            <a:avLst>
              <a:gd name="adj" fmla="val 30769"/>
            </a:avLst>
          </a:prstGeom>
          <a:solidFill>
            <a:srgbClr val="DFF7EA"/>
          </a:solidFill>
          <a:ln w="12700">
            <a:solidFill>
              <a:srgbClr val="DFF7E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2578608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068312" y="245059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Purpose-led transfer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068312" y="279806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the expected UGX, fee, rate and reason before the sender confirms.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" y="3685032"/>
            <a:ext cx="5102352" cy="1097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6112" y="3913632"/>
            <a:ext cx="475488" cy="475488"/>
          </a:xfrm>
          <a:prstGeom prst="roundRect">
            <a:avLst>
              <a:gd name="adj" fmla="val 30769"/>
            </a:avLst>
          </a:prstGeom>
          <a:solidFill>
            <a:srgbClr val="C9F04A"/>
          </a:solidFill>
          <a:ln w="12700">
            <a:solidFill>
              <a:srgbClr val="C9F04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3995928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81912" y="386791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Goals and Circles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581912" y="421538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Organise school fees, land, construction and recurring family support.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3685032"/>
            <a:ext cx="5102352" cy="1097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82512" y="3913632"/>
            <a:ext cx="475488" cy="475488"/>
          </a:xfrm>
          <a:prstGeom prst="roundRect">
            <a:avLst>
              <a:gd name="adj" fmla="val 30769"/>
            </a:avLst>
          </a:prstGeom>
          <a:solidFill>
            <a:srgbClr val="DFF7EA"/>
          </a:solidFill>
          <a:ln w="12700">
            <a:solidFill>
              <a:srgbClr val="DFF7E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82512" y="3995928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68312" y="386791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 after payment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068312" y="421538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Receipt, history, SMS sandbox update and independently verifiable Stellar proof.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58368" y="6473952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60" kern="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HOMEWARD  |  DEVFEST BLOCKCHAIN HACKATHON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064240" y="6455664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3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48640"/>
            <a:ext cx="1389888" cy="292608"/>
          </a:xfrm>
          <a:prstGeom prst="roundRect">
            <a:avLst>
              <a:gd name="adj" fmla="val 50000"/>
            </a:avLst>
          </a:prstGeom>
          <a:solidFill>
            <a:srgbClr val="0D5A57"/>
          </a:solidFill>
          <a:ln w="12700">
            <a:solidFill>
              <a:srgbClr val="0D5A5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66928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110" kern="0" dirty="0">
                <a:solidFill>
                  <a:srgbClr val="C9F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INCLUSIVE BY DESIGN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85800" y="1152144"/>
            <a:ext cx="6217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money app should not</a:t>
            </a: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financial English.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713232" y="2359152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C9E6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HomeWard integrates Sunbird AI so people can navigate and ask for help in familiar Ugandan languages.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77240" y="3438144"/>
            <a:ext cx="109728" cy="109728"/>
          </a:xfrm>
          <a:prstGeom prst="ellipse">
            <a:avLst/>
          </a:prstGeom>
          <a:solidFill>
            <a:srgbClr val="C9F04A"/>
          </a:solidFill>
          <a:ln w="12700">
            <a:solidFill>
              <a:srgbClr val="C9F04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33375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Luganda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971800" y="33375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9E6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language across core screens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7240" y="4032504"/>
            <a:ext cx="109728" cy="109728"/>
          </a:xfrm>
          <a:prstGeom prst="ellipse">
            <a:avLst/>
          </a:prstGeom>
          <a:solidFill>
            <a:srgbClr val="C9F04A"/>
          </a:solidFill>
          <a:ln w="12700">
            <a:solidFill>
              <a:srgbClr val="C9F04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39319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Speak naturally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971800" y="39319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9E6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Speech-to-text for the assistant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7240" y="4626864"/>
            <a:ext cx="109728" cy="109728"/>
          </a:xfrm>
          <a:prstGeom prst="ellipse">
            <a:avLst/>
          </a:prstGeom>
          <a:solidFill>
            <a:srgbClr val="C9F04A"/>
          </a:solidFill>
          <a:ln w="12700">
            <a:solidFill>
              <a:srgbClr val="C9F04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45262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Hear guidance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971800" y="45262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9E6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Text-to-speech support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" y="5221224"/>
            <a:ext cx="109728" cy="109728"/>
          </a:xfrm>
          <a:prstGeom prst="ellipse">
            <a:avLst/>
          </a:prstGeom>
          <a:solidFill>
            <a:srgbClr val="C9F04A"/>
          </a:solidFill>
          <a:ln w="12700">
            <a:solidFill>
              <a:srgbClr val="C9F04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51206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Stay in control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971800" y="51206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9E6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Voice and AI never bypass confirmation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543800" y="1188720"/>
            <a:ext cx="3200400" cy="4160520"/>
          </a:xfrm>
          <a:prstGeom prst="roundRect">
            <a:avLst>
              <a:gd name="adj" fmla="val 4571"/>
            </a:avLst>
          </a:prstGeom>
          <a:solidFill>
            <a:srgbClr val="0D5A57"/>
          </a:solidFill>
          <a:ln w="12700">
            <a:solidFill>
              <a:srgbClr val="0D5A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09560" y="16916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C9F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SUNBIRD AI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882128" y="2487168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 is not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feature.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access.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8065008" y="395935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C9E6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9E6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9E6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Speech 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9E6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Speech out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617220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C9E6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HomeWard | Sunbird AI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00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BLOCKCHAIN MOMENT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Judges can inspect the proof - not just trust the interface.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35331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HomeWard provisions a user wallet and sends Test USDC on Stellar Testnet.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1856232"/>
            <a:ext cx="10844784" cy="0"/>
          </a:xfrm>
          <a:prstGeom prst="line">
            <a:avLst/>
          </a:prstGeom>
          <a:noFill/>
          <a:ln w="12700">
            <a:solidFill>
              <a:srgbClr val="D9E6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286000"/>
            <a:ext cx="5029200" cy="3063240"/>
          </a:xfrm>
          <a:prstGeom prst="roundRect">
            <a:avLst>
              <a:gd name="adj" fmla="val 4776"/>
            </a:avLst>
          </a:prstGeom>
          <a:solidFill>
            <a:srgbClr val="063A45"/>
          </a:solidFill>
          <a:ln w="12700">
            <a:solidFill>
              <a:srgbClr val="063A45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6517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C9F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IN THE DEMO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05840" y="306324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USDC moves</a:t>
            </a: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Stellar Testnet.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005840" y="41605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C9E6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successful transfer exposes its transaction hash and a one-tap Stellar explorer link.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0" y="2286000"/>
            <a:ext cx="5029200" cy="832104"/>
          </a:xfrm>
          <a:prstGeom prst="roundRect">
            <a:avLst>
              <a:gd name="adj" fmla="val 1758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29400" y="2487168"/>
            <a:ext cx="384048" cy="384048"/>
          </a:xfrm>
          <a:prstGeom prst="roundRect">
            <a:avLst>
              <a:gd name="adj" fmla="val 38095"/>
            </a:avLst>
          </a:prstGeom>
          <a:solidFill>
            <a:srgbClr val="DFF7EA"/>
          </a:solidFill>
          <a:ln w="12700">
            <a:solidFill>
              <a:srgbClr val="DFF7E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2578608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269480" y="241401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wallet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269480" y="2697480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Individual Testnet wallet and USDC trustline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0" y="3310128"/>
            <a:ext cx="5029200" cy="832104"/>
          </a:xfrm>
          <a:prstGeom prst="roundRect">
            <a:avLst>
              <a:gd name="adj" fmla="val 1758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29400" y="3511296"/>
            <a:ext cx="384048" cy="384048"/>
          </a:xfrm>
          <a:prstGeom prst="roundRect">
            <a:avLst>
              <a:gd name="adj" fmla="val 38095"/>
            </a:avLst>
          </a:prstGeom>
          <a:solidFill>
            <a:srgbClr val="DFF7EA"/>
          </a:solidFill>
          <a:ln w="12700">
            <a:solidFill>
              <a:srgbClr val="DFF7E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360273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269480" y="343814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On-chain transfer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269480" y="3721608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Stellar transaction is submitted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0" y="4334256"/>
            <a:ext cx="5029200" cy="832104"/>
          </a:xfrm>
          <a:prstGeom prst="roundRect">
            <a:avLst>
              <a:gd name="adj" fmla="val 1758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29400" y="4535424"/>
            <a:ext cx="384048" cy="384048"/>
          </a:xfrm>
          <a:prstGeom prst="roundRect">
            <a:avLst>
              <a:gd name="adj" fmla="val 38095"/>
            </a:avLst>
          </a:prstGeom>
          <a:solidFill>
            <a:srgbClr val="DFF7EA"/>
          </a:solidFill>
          <a:ln w="12700">
            <a:solidFill>
              <a:srgbClr val="DFF7E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462686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269480" y="446227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receipt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269480" y="4745736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Hash opens in Stellar Expert Testnet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8368" y="6473952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60" kern="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HOMEWARD  |  DEVFEST BLOCKCHAIN HACKATHON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064240" y="6455664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00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JOURNEY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simple experience. Licensed partners handle regulated steps.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35331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HomeWard is the trust and experience layer - not a bank or unlicensed money transmitter.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1856232"/>
            <a:ext cx="10844784" cy="0"/>
          </a:xfrm>
          <a:prstGeom prst="line">
            <a:avLst/>
          </a:prstGeom>
          <a:noFill/>
          <a:ln w="12700">
            <a:solidFill>
              <a:srgbClr val="D9E6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487168"/>
            <a:ext cx="1920240" cy="196596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724912"/>
            <a:ext cx="365760" cy="292608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12700">
            <a:solidFill>
              <a:srgbClr val="DFF7E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74320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110" kern="0" dirty="0">
                <a:solidFill>
                  <a:srgbClr val="00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331012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 recipient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377647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Passport + purpose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68880" y="3355848"/>
            <a:ext cx="228600" cy="274320"/>
          </a:xfrm>
          <a:prstGeom prst="chevron">
            <a:avLst/>
          </a:prstGeom>
          <a:solidFill>
            <a:srgbClr val="008A68"/>
          </a:solidFill>
          <a:ln w="12700">
            <a:solidFill>
              <a:srgbClr val="008A6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34640" y="2487168"/>
            <a:ext cx="1920240" cy="196596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17520" y="2724912"/>
            <a:ext cx="365760" cy="292608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12700">
            <a:solidFill>
              <a:srgbClr val="DFF7E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0" y="274320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110" kern="0" dirty="0">
                <a:solidFill>
                  <a:srgbClr val="00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017520" y="331012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 abroad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017520" y="377647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partner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KYC + AED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00600" y="3355848"/>
            <a:ext cx="228600" cy="274320"/>
          </a:xfrm>
          <a:prstGeom prst="chevron">
            <a:avLst/>
          </a:prstGeom>
          <a:solidFill>
            <a:srgbClr val="008A68"/>
          </a:solidFill>
          <a:ln w="12700">
            <a:solidFill>
              <a:srgbClr val="008A68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66360" y="2487168"/>
            <a:ext cx="1920240" cy="1965960"/>
          </a:xfrm>
          <a:prstGeom prst="roundRect">
            <a:avLst>
              <a:gd name="adj" fmla="val 7619"/>
            </a:avLst>
          </a:prstGeom>
          <a:solidFill>
            <a:srgbClr val="063A45"/>
          </a:solidFill>
          <a:ln w="12700">
            <a:solidFill>
              <a:srgbClr val="063A45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2724912"/>
            <a:ext cx="365760" cy="292608"/>
          </a:xfrm>
          <a:prstGeom prst="roundRect">
            <a:avLst>
              <a:gd name="adj" fmla="val 50000"/>
            </a:avLst>
          </a:prstGeom>
          <a:solidFill>
            <a:srgbClr val="0D5A57"/>
          </a:solidFill>
          <a:ln w="12700">
            <a:solidFill>
              <a:srgbClr val="0D5A5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274320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110" kern="0" dirty="0">
                <a:solidFill>
                  <a:srgbClr val="C9F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349240" y="331012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Settle value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9240" y="377647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C9E6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USDC on Stellar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32320" y="3355848"/>
            <a:ext cx="228600" cy="274320"/>
          </a:xfrm>
          <a:prstGeom prst="chevron">
            <a:avLst/>
          </a:prstGeom>
          <a:solidFill>
            <a:srgbClr val="008A68"/>
          </a:solidFill>
          <a:ln w="12700">
            <a:solidFill>
              <a:srgbClr val="008A68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0" y="2487168"/>
            <a:ext cx="1920240" cy="196596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80960" y="2724912"/>
            <a:ext cx="365760" cy="292608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12700">
            <a:solidFill>
              <a:srgbClr val="DFF7E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0" y="274320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110" kern="0" dirty="0">
                <a:solidFill>
                  <a:srgbClr val="00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680960" y="331012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 UGX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680960" y="377647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Licensed partner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MTN / Airtel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464040" y="3355848"/>
            <a:ext cx="228600" cy="274320"/>
          </a:xfrm>
          <a:prstGeom prst="chevron">
            <a:avLst/>
          </a:prstGeom>
          <a:solidFill>
            <a:srgbClr val="008A68"/>
          </a:solidFill>
          <a:ln w="12700">
            <a:solidFill>
              <a:srgbClr val="008A68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29800" y="2487168"/>
            <a:ext cx="1920240" cy="196596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012680" y="2724912"/>
            <a:ext cx="365760" cy="292608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12700">
            <a:solidFill>
              <a:srgbClr val="DFF7EA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12680" y="274320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110" kern="0" dirty="0">
                <a:solidFill>
                  <a:srgbClr val="00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012680" y="331012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proof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012680" y="377647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Receipt + history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85800" y="5074920"/>
            <a:ext cx="10789920" cy="594360"/>
          </a:xfrm>
          <a:prstGeom prst="roundRect">
            <a:avLst>
              <a:gd name="adj" fmla="val 24615"/>
            </a:avLst>
          </a:prstGeom>
          <a:solidFill>
            <a:srgbClr val="DFF7EA"/>
          </a:solidFill>
          <a:ln w="12700">
            <a:solidFill>
              <a:srgbClr val="DFF7EA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5257800"/>
            <a:ext cx="10332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Today: real Stellar Testnet proof. Production: funding, FX, custody and payout only through regulated partners.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658368" y="6473952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60" kern="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HOMEWARD  |  DEVFEST BLOCKCHAIN HACKATHON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1064240" y="6455664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00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USERS CAN TRUST 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HomeWard makes the sender slow down at the moments that matter.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856232"/>
            <a:ext cx="10844784" cy="0"/>
          </a:xfrm>
          <a:prstGeom prst="line">
            <a:avLst/>
          </a:prstGeom>
          <a:noFill/>
          <a:ln w="12700">
            <a:solidFill>
              <a:srgbClr val="D9E6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240280"/>
            <a:ext cx="5102352" cy="1097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" y="2532888"/>
            <a:ext cx="109728" cy="109728"/>
          </a:xfrm>
          <a:prstGeom prst="ellipse">
            <a:avLst/>
          </a:prstGeom>
          <a:solidFill>
            <a:srgbClr val="008A68"/>
          </a:solidFill>
          <a:ln w="12700">
            <a:solidFill>
              <a:srgbClr val="008A6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42316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Recipient Passport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188720" y="277063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 person, relationship, network, history and details-change warning.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90488" y="2240280"/>
            <a:ext cx="5102352" cy="1097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2532888"/>
            <a:ext cx="109728" cy="109728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93408" y="242316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guardrails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693408" y="277063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Warn on unfamiliar recipients, changed details, large transfers or missed plans.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5800" y="3630168"/>
            <a:ext cx="5102352" cy="1097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1832" y="3922776"/>
            <a:ext cx="109728" cy="109728"/>
          </a:xfrm>
          <a:prstGeom prst="ellipse">
            <a:avLst/>
          </a:prstGeom>
          <a:solidFill>
            <a:srgbClr val="D76464"/>
          </a:solidFill>
          <a:ln w="12700">
            <a:solidFill>
              <a:srgbClr val="D76464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381304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confirmation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188720" y="416052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can explain and prepare. The user must explicitly confirm payment.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90488" y="3630168"/>
            <a:ext cx="5102352" cy="1097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3922776"/>
            <a:ext cx="109728" cy="109728"/>
          </a:xfrm>
          <a:prstGeom prst="ellipse">
            <a:avLst/>
          </a:prstGeom>
          <a:solidFill>
            <a:srgbClr val="008A68"/>
          </a:solidFill>
          <a:ln w="12700">
            <a:solidFill>
              <a:srgbClr val="008A6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93408" y="381304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by default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693408" y="416052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User-scoped wallets, history, recipients, Goals, Circles and chats.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58368" y="6473952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60" kern="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HOMEWARD  |  DEVFEST BLOCKCHAIN HACKATHON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064240" y="6455664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00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HOMEWARD CAN WIN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another wallet. A family-support operating system.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856232"/>
            <a:ext cx="10844784" cy="0"/>
          </a:xfrm>
          <a:prstGeom prst="line">
            <a:avLst/>
          </a:prstGeom>
          <a:noFill/>
          <a:ln w="12700">
            <a:solidFill>
              <a:srgbClr val="D9E6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194560"/>
            <a:ext cx="10789920" cy="475488"/>
          </a:xfrm>
          <a:prstGeom prst="roundRect">
            <a:avLst>
              <a:gd name="adj" fmla="val 30769"/>
            </a:avLst>
          </a:prstGeom>
          <a:solidFill>
            <a:srgbClr val="063A45"/>
          </a:solidFill>
          <a:ln w="12700">
            <a:solidFill>
              <a:srgbClr val="063A45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350008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7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MOMENT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749040" y="2350008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7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EXPERIENCE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498080" y="235000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7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HOMEWARD DIFFERENCE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2743200"/>
            <a:ext cx="10789920" cy="566928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90779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sending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749040" y="290779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Recipient + amount anxiety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7498080" y="288950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00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Passport, price clarity, local-language guidance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685800" y="3392424"/>
            <a:ext cx="10789920" cy="566928"/>
          </a:xfrm>
          <a:prstGeom prst="roundRect">
            <a:avLst>
              <a:gd name="adj" fmla="val 25806"/>
            </a:avLst>
          </a:prstGeom>
          <a:solidFill>
            <a:srgbClr val="EDF4F1"/>
          </a:solidFill>
          <a:ln w="12700">
            <a:solidFill>
              <a:srgbClr val="EDF4F1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55701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sending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749040" y="355701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disappears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7498080" y="35387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00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Receipt, Stellar proof, history and SMS sandbox updates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85800" y="4041648"/>
            <a:ext cx="10789920" cy="566928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2062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month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749040" y="420624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transfers feel fragmented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7498080" y="418795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00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Circles, Goals, plans and family progress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85800" y="4690872"/>
            <a:ext cx="10789920" cy="566928"/>
          </a:xfrm>
          <a:prstGeom prst="roundRect">
            <a:avLst>
              <a:gd name="adj" fmla="val 25806"/>
            </a:avLst>
          </a:prstGeom>
          <a:solidFill>
            <a:srgbClr val="EDF4F1"/>
          </a:solidFill>
          <a:ln w="12700">
            <a:solidFill>
              <a:srgbClr val="EDF4F1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85546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low-literacy users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749040" y="485546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English excludes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7498080" y="483717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00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Sunbird-powered local language and voice access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658368" y="6473952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60" kern="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HOMEWARD  |  DEVFEST BLOCKCHAIN HACKATHON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064240" y="6455664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00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PROOF TO PILOT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next milestone is not more screens. It is a regulated, user-tested corridor.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856232"/>
            <a:ext cx="10844784" cy="0"/>
          </a:xfrm>
          <a:prstGeom prst="line">
            <a:avLst/>
          </a:prstGeom>
          <a:noFill/>
          <a:ln w="12700">
            <a:solidFill>
              <a:srgbClr val="D9E6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331720"/>
            <a:ext cx="3246120" cy="263347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606040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12700">
            <a:solidFill>
              <a:srgbClr val="DFF7E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24328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110" kern="0" dirty="0">
                <a:solidFill>
                  <a:srgbClr val="00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14400" y="3255264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 the experience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79476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Stellar Testnet, Recipient Passport, Goals, Circles, Sunbird access and safety guardrails.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2331720"/>
            <a:ext cx="3246120" cy="263347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2606040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0D5A57"/>
          </a:solidFill>
          <a:ln w="12700">
            <a:solidFill>
              <a:srgbClr val="0D5A5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2624328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110" kern="0" dirty="0">
                <a:solidFill>
                  <a:srgbClr val="C9F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617720" y="3255264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 demand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17720" y="379476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with UAE-Uganda families and validate language, trust and repeat-support behavior.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92440" y="2331720"/>
            <a:ext cx="3246120" cy="263347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2606040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12700">
            <a:solidFill>
              <a:srgbClr val="DFF7E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2624328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110" kern="0" dirty="0">
                <a:solidFill>
                  <a:srgbClr val="00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321040" y="3255264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 delivery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21040" y="379476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 approved funding and Uganda mobile-money payout partners for a regulated pilot.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544068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are looking for: pilot users, regulated funding/payout partners, and mentors in diaspora finance and accessibility.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" y="6473952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60" kern="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HOMEWARD  |  DEVFEST BLOCKCHAIN HACKATHON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064240" y="6455664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0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3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9436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D5A57"/>
          </a:solidFill>
          <a:ln w="12700">
            <a:solidFill>
              <a:srgbClr val="0D5A5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61264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110" kern="0" dirty="0">
                <a:solidFill>
                  <a:srgbClr val="C9F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FINAL THOUGHT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85800" y="1261872"/>
            <a:ext cx="6629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money goes home,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 should go with it.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13232" y="2633472"/>
            <a:ext cx="5897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C9E6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HomeWard gives every family transfer a reason, a record, a language people understand, and proof that judges can verify.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52360" y="1097280"/>
            <a:ext cx="3429000" cy="4206240"/>
          </a:xfrm>
          <a:prstGeom prst="roundRect">
            <a:avLst>
              <a:gd name="adj" fmla="val 4267"/>
            </a:avLst>
          </a:prstGeom>
          <a:solidFill>
            <a:srgbClr val="0D5A57"/>
          </a:solidFill>
          <a:ln w="12700">
            <a:solidFill>
              <a:srgbClr val="0D5A5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18120" y="16642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spc="12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HOMEWARD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818120" y="2487168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F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C9F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C9F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Peace of mind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065008" y="3703320"/>
            <a:ext cx="2194560" cy="0"/>
          </a:xfrm>
          <a:prstGeom prst="line">
            <a:avLst/>
          </a:prstGeom>
          <a:noFill/>
          <a:ln w="12700">
            <a:solidFill>
              <a:srgbClr val="5EA9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18120" y="405079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Kamwanga Raheem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Kisakye Abigail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Sunday Emmanuel Lugai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13232" y="61264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F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571232" y="6144768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C9E6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HomeWard | DevFest Blockchain Hackathon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HomeWard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HomeWard - Purpose, proof and peace of mind</dc:title>
  <dc:subject>HomeWard pitch deck</dc:subject>
  <dc:creator>HomeWard Team</dc:creator>
  <cp:lastModifiedBy>HomeWard Team</cp:lastModifiedBy>
  <cp:revision>1</cp:revision>
  <dcterms:created xsi:type="dcterms:W3CDTF">2026-07-27T09:22:02Z</dcterms:created>
  <dcterms:modified xsi:type="dcterms:W3CDTF">2026-07-27T09:22:02Z</dcterms:modified>
</cp:coreProperties>
</file>