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3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-1188720"/>
            <a:ext cx="5669280" cy="5669280"/>
          </a:xfrm>
          <a:prstGeom prst="arc">
            <a:avLst/>
          </a:prstGeom>
          <a:solidFill>
            <a:srgbClr val="063A45">
              <a:alpha val="0"/>
            </a:srgbClr>
          </a:solidFill>
          <a:ln w="139700">
            <a:solidFill>
              <a:srgbClr val="0C8A68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2651760"/>
            <a:ext cx="4297680" cy="4297680"/>
          </a:xfrm>
          <a:prstGeom prst="arc">
            <a:avLst/>
          </a:prstGeom>
          <a:solidFill>
            <a:srgbClr val="063A45">
              <a:alpha val="0"/>
            </a:srgbClr>
          </a:solidFill>
          <a:ln w="88900">
            <a:solidFill>
              <a:srgbClr val="B8F23A">
                <a:alpha val="7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76656"/>
            <a:ext cx="2240280" cy="320040"/>
          </a:xfrm>
          <a:prstGeom prst="roundRect">
            <a:avLst>
              <a:gd name="adj" fmla="val 51429"/>
            </a:avLst>
          </a:prstGeom>
          <a:solidFill>
            <a:srgbClr val="0F5D58"/>
          </a:solidFill>
          <a:ln w="12700">
            <a:solidFill>
              <a:srgbClr val="0F5D5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9494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F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DEVFEST BLOCKCHAIN HACKATHON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58368" y="1444752"/>
            <a:ext cx="5486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spc="1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TWĀALA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58368" y="2203704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B8F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Family money, made visible.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58368" y="2980944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5E8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purpose-led way for diaspora families to fund what matters at home — with transparent Stellar settlement and mobile-money delivery.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8368" y="5047488"/>
            <a:ext cx="3840480" cy="804672"/>
          </a:xfrm>
          <a:prstGeom prst="roundRect">
            <a:avLst>
              <a:gd name="adj" fmla="val 20455"/>
            </a:avLst>
          </a:prstGeom>
          <a:solidFill>
            <a:srgbClr val="0F5D58"/>
          </a:solidFill>
          <a:ln w="12700">
            <a:solidFill>
              <a:srgbClr val="0F5D5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519379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Dubai → Uganda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USDC on Stellar → UGX mobile money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" y="62727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spc="120" kern="0" dirty="0">
                <a:solidFill>
                  <a:srgbClr val="B5D7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DEVFEST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Sending money home is fast — but family outcomes are invisible.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399032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Diaspora workers need confidence that a transfer reached the right person, for the intended purpose.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01952"/>
            <a:ext cx="10908792" cy="0"/>
          </a:xfrm>
          <a:prstGeom prst="line">
            <a:avLst/>
          </a:prstGeom>
          <a:noFill/>
          <a:ln w="12700">
            <a:solidFill>
              <a:srgbClr val="D8E4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2331720"/>
            <a:ext cx="3319272" cy="2487168"/>
          </a:xfrm>
          <a:prstGeom prst="roundRect">
            <a:avLst>
              <a:gd name="adj" fmla="val 661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5786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86968" y="297180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Fragmented journeys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86968" y="352044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Workers move between banks, cash agents, wallets and mobile money — often with unclear fees and status.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2331720"/>
            <a:ext cx="3319272" cy="2487168"/>
          </a:xfrm>
          <a:prstGeom prst="roundRect">
            <a:avLst>
              <a:gd name="adj" fmla="val 661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25786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17720" y="297180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trust after send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17720" y="352044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 sent it” is not the same as knowing Mum received it, what it funded, or having a lasting receipt.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19872" y="2331720"/>
            <a:ext cx="3319272" cy="2487168"/>
          </a:xfrm>
          <a:prstGeom prst="roundRect">
            <a:avLst>
              <a:gd name="adj" fmla="val 661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48472" y="25786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48472" y="297180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Generic remittance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48472" y="352044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products optimize the transaction, not family goals: school fees, construction milestones and emergencies.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8368" y="5257800"/>
            <a:ext cx="10789920" cy="621792"/>
          </a:xfrm>
          <a:prstGeom prst="roundRect">
            <a:avLst>
              <a:gd name="adj" fmla="val 26471"/>
            </a:avLst>
          </a:prstGeom>
          <a:solidFill>
            <a:srgbClr val="DFF7EA"/>
          </a:solidFill>
          <a:ln w="12700">
            <a:solidFill>
              <a:srgbClr val="DFF7E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404104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opportunity: make every remittance a verified family commitment — not just another payment.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70" kern="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TWĀALA  •  CONFIDENTIAL HACKATHON PITCH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06424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Twaala turns “send money” into a trusted family-money experience.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901952"/>
            <a:ext cx="10908792" cy="0"/>
          </a:xfrm>
          <a:prstGeom prst="line">
            <a:avLst/>
          </a:prstGeom>
          <a:noFill/>
          <a:ln w="12700">
            <a:solidFill>
              <a:srgbClr val="D8E4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286000"/>
            <a:ext cx="5138928" cy="1115568"/>
          </a:xfrm>
          <a:prstGeom prst="roundRect">
            <a:avLst>
              <a:gd name="adj" fmla="val 147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2496312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E9F4F0"/>
          </a:solidFill>
          <a:ln w="12700">
            <a:solidFill>
              <a:srgbClr val="E9F4F0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56946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18488" y="24871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Recipient Passport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18488" y="281635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Saved full name, verified phone, network, relationship and delivery preference.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2286000"/>
            <a:ext cx="5138928" cy="1115568"/>
          </a:xfrm>
          <a:prstGeom prst="roundRect">
            <a:avLst>
              <a:gd name="adj" fmla="val 147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73368" y="2496312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DFF7EA"/>
          </a:solidFill>
          <a:ln w="12700">
            <a:solidFill>
              <a:srgbClr val="DFF7E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73368" y="256946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04888" y="24871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Purpose-first transfers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04888" y="281635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 against a real family need: school fees, building milestones, savings or emergency support.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" y="3730752"/>
            <a:ext cx="5138928" cy="1115568"/>
          </a:xfrm>
          <a:prstGeom prst="roundRect">
            <a:avLst>
              <a:gd name="adj" fmla="val 147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6968" y="3941064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E9F4F0"/>
          </a:solidFill>
          <a:ln w="12700">
            <a:solidFill>
              <a:srgbClr val="E9F4F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40142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18488" y="393192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Proof, not promises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18488" y="426110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receipt, settlement status and a Stellar transaction link make the flow auditable.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3730752"/>
            <a:ext cx="5138928" cy="1115568"/>
          </a:xfrm>
          <a:prstGeom prst="roundRect">
            <a:avLst>
              <a:gd name="adj" fmla="val 147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73368" y="3941064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DFF7EA"/>
          </a:solidFill>
          <a:ln w="12700">
            <a:solidFill>
              <a:srgbClr val="DFF7E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73368" y="40142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04888" y="393192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Family memory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04888" y="426110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Goals and transfer history turn scattered remittances into a shared record of progress.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70" kern="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TWĀALA  •  CONFIDENTIAL HACKATHON PITCH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06424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JOURNEY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simple journey; specialized partners behind the scenes.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901952"/>
            <a:ext cx="10908792" cy="0"/>
          </a:xfrm>
          <a:prstGeom prst="line">
            <a:avLst/>
          </a:prstGeom>
          <a:noFill/>
          <a:ln w="12700">
            <a:solidFill>
              <a:srgbClr val="D8E4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2487168"/>
            <a:ext cx="1874520" cy="2011680"/>
          </a:xfrm>
          <a:prstGeom prst="roundRect">
            <a:avLst>
              <a:gd name="adj" fmla="val 878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" y="2679192"/>
            <a:ext cx="393192" cy="393192"/>
          </a:xfrm>
          <a:prstGeom prst="roundRect">
            <a:avLst>
              <a:gd name="adj" fmla="val 41860"/>
            </a:avLst>
          </a:prstGeom>
          <a:solidFill>
            <a:srgbClr val="DFF7EA"/>
          </a:solidFill>
          <a:ln w="12700">
            <a:solidFill>
              <a:srgbClr val="DFF7E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2761488"/>
            <a:ext cx="393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94944" y="3337560"/>
            <a:ext cx="1527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beneficiary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94944" y="3813048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Recipient Passport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purpose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78024" y="3410712"/>
            <a:ext cx="256032" cy="292608"/>
          </a:xfrm>
          <a:prstGeom prst="chevron">
            <a:avLst/>
          </a:prstGeom>
          <a:solidFill>
            <a:srgbClr val="0C8A68"/>
          </a:solidFill>
          <a:ln w="12700">
            <a:solidFill>
              <a:srgbClr val="0C8A6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34640" y="2487168"/>
            <a:ext cx="1874520" cy="2011680"/>
          </a:xfrm>
          <a:prstGeom prst="roundRect">
            <a:avLst>
              <a:gd name="adj" fmla="val 878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99232" y="2679192"/>
            <a:ext cx="393192" cy="393192"/>
          </a:xfrm>
          <a:prstGeom prst="roundRect">
            <a:avLst>
              <a:gd name="adj" fmla="val 41860"/>
            </a:avLst>
          </a:prstGeom>
          <a:solidFill>
            <a:srgbClr val="DFF7EA"/>
          </a:solidFill>
          <a:ln w="12700">
            <a:solidFill>
              <a:srgbClr val="DFF7E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99232" y="2761488"/>
            <a:ext cx="393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99232" y="3337560"/>
            <a:ext cx="1527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 wallet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999232" y="3813048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Transak checkout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KYC + payment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82312" y="3410712"/>
            <a:ext cx="256032" cy="292608"/>
          </a:xfrm>
          <a:prstGeom prst="chevron">
            <a:avLst/>
          </a:prstGeom>
          <a:solidFill>
            <a:srgbClr val="0C8A68"/>
          </a:solidFill>
          <a:ln w="12700">
            <a:solidFill>
              <a:srgbClr val="0C8A6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38928" y="2487168"/>
            <a:ext cx="1874520" cy="2011680"/>
          </a:xfrm>
          <a:prstGeom prst="roundRect">
            <a:avLst>
              <a:gd name="adj" fmla="val 8780"/>
            </a:avLst>
          </a:prstGeom>
          <a:solidFill>
            <a:srgbClr val="063A45"/>
          </a:solidFill>
          <a:ln w="12700">
            <a:solidFill>
              <a:srgbClr val="063A4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0" y="2679192"/>
            <a:ext cx="393192" cy="393192"/>
          </a:xfrm>
          <a:prstGeom prst="roundRect">
            <a:avLst>
              <a:gd name="adj" fmla="val 41860"/>
            </a:avLst>
          </a:prstGeom>
          <a:solidFill>
            <a:srgbClr val="B8F23A"/>
          </a:solidFill>
          <a:ln w="12700">
            <a:solidFill>
              <a:srgbClr val="B8F23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2761488"/>
            <a:ext cx="393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03520" y="3337560"/>
            <a:ext cx="1527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USDC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303520" y="3813048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C7E9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Stellar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7E9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settlement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086600" y="3410712"/>
            <a:ext cx="256032" cy="292608"/>
          </a:xfrm>
          <a:prstGeom prst="chevron">
            <a:avLst/>
          </a:prstGeom>
          <a:solidFill>
            <a:srgbClr val="0C8A68"/>
          </a:solidFill>
          <a:ln w="12700">
            <a:solidFill>
              <a:srgbClr val="0C8A68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43216" y="2487168"/>
            <a:ext cx="1874520" cy="2011680"/>
          </a:xfrm>
          <a:prstGeom prst="roundRect">
            <a:avLst>
              <a:gd name="adj" fmla="val 878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07808" y="2679192"/>
            <a:ext cx="393192" cy="393192"/>
          </a:xfrm>
          <a:prstGeom prst="roundRect">
            <a:avLst>
              <a:gd name="adj" fmla="val 41860"/>
            </a:avLst>
          </a:prstGeom>
          <a:solidFill>
            <a:srgbClr val="DFF7EA"/>
          </a:solidFill>
          <a:ln w="12700">
            <a:solidFill>
              <a:srgbClr val="DFF7E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07808" y="2761488"/>
            <a:ext cx="393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607808" y="3337560"/>
            <a:ext cx="1527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 UGX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607808" y="3813048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Kotani / licensed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payout partner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390888" y="3410712"/>
            <a:ext cx="256032" cy="292608"/>
          </a:xfrm>
          <a:prstGeom prst="chevron">
            <a:avLst/>
          </a:prstGeom>
          <a:solidFill>
            <a:srgbClr val="0C8A68"/>
          </a:solidFill>
          <a:ln w="12700">
            <a:solidFill>
              <a:srgbClr val="0C8A68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47504" y="2487168"/>
            <a:ext cx="1874520" cy="2011680"/>
          </a:xfrm>
          <a:prstGeom prst="roundRect">
            <a:avLst>
              <a:gd name="adj" fmla="val 878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12096" y="2679192"/>
            <a:ext cx="393192" cy="393192"/>
          </a:xfrm>
          <a:prstGeom prst="roundRect">
            <a:avLst>
              <a:gd name="adj" fmla="val 41860"/>
            </a:avLst>
          </a:prstGeom>
          <a:solidFill>
            <a:srgbClr val="DFF7EA"/>
          </a:solidFill>
          <a:ln w="12700">
            <a:solidFill>
              <a:srgbClr val="DFF7EA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12096" y="2761488"/>
            <a:ext cx="393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912096" y="3337560"/>
            <a:ext cx="1527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proof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912096" y="3813048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Receipt, status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family history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005840" y="5193792"/>
            <a:ext cx="10195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Twaala owns the experience, beneficiary intelligence and proof layer. Regulated partners perform fiat funding, KYC, FX, custody and payout.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40080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70" kern="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TWĀALA  •  CONFIDENTIAL HACKATHON PITCH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106424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BLOCKCHAIN THAT JUDGES CAN VERIFY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Stellar is not a background claim. It is part of the live demo.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901952"/>
            <a:ext cx="10908792" cy="0"/>
          </a:xfrm>
          <a:prstGeom prst="line">
            <a:avLst/>
          </a:prstGeom>
          <a:noFill/>
          <a:ln w="12700">
            <a:solidFill>
              <a:srgbClr val="D8E4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359152"/>
            <a:ext cx="5138928" cy="3035808"/>
          </a:xfrm>
          <a:prstGeom prst="roundRect">
            <a:avLst>
              <a:gd name="adj" fmla="val 5422"/>
            </a:avLst>
          </a:prstGeom>
          <a:solidFill>
            <a:srgbClr val="063A45"/>
          </a:solidFill>
          <a:ln w="12700">
            <a:solidFill>
              <a:srgbClr val="063A45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6791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B8F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87552" y="3072384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proof starts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Stellar Testnet.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87552" y="4270248"/>
            <a:ext cx="4069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7E9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 demo wallet → issue test USDC → send payment → open Stellar Expert link → inspect ledger, hash and memo.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46520" y="2359152"/>
            <a:ext cx="4956048" cy="8229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56832" y="2560320"/>
            <a:ext cx="393192" cy="393192"/>
          </a:xfrm>
          <a:prstGeom prst="roundRect">
            <a:avLst>
              <a:gd name="adj" fmla="val 41860"/>
            </a:avLst>
          </a:prstGeom>
          <a:solidFill>
            <a:srgbClr val="DFF7EA"/>
          </a:solidFill>
          <a:ln w="12700">
            <a:solidFill>
              <a:srgbClr val="DFF7E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56832" y="2606040"/>
            <a:ext cx="393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269480" y="250545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Immutable transaction hash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69480" y="277977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fabricated demo hashes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46520" y="3364992"/>
            <a:ext cx="4956048" cy="8229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56832" y="3566160"/>
            <a:ext cx="393192" cy="393192"/>
          </a:xfrm>
          <a:prstGeom prst="roundRect">
            <a:avLst>
              <a:gd name="adj" fmla="val 41860"/>
            </a:avLst>
          </a:prstGeom>
          <a:solidFill>
            <a:srgbClr val="DFF7EA"/>
          </a:solidFill>
          <a:ln w="12700">
            <a:solidFill>
              <a:srgbClr val="DFF7E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56832" y="3611880"/>
            <a:ext cx="393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269480" y="351129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Horizon verification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269480" y="378561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 read back from the network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46520" y="4370832"/>
            <a:ext cx="4956048" cy="8229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56832" y="4572000"/>
            <a:ext cx="393192" cy="393192"/>
          </a:xfrm>
          <a:prstGeom prst="roundRect">
            <a:avLst>
              <a:gd name="adj" fmla="val 41860"/>
            </a:avLst>
          </a:prstGeom>
          <a:solidFill>
            <a:srgbClr val="DFF7EA"/>
          </a:solidFill>
          <a:ln w="12700">
            <a:solidFill>
              <a:srgbClr val="DFF7E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56832" y="4617720"/>
            <a:ext cx="393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69480" y="451713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Explorer receipt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69480" y="479145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tap opens Stellar Expert Testnet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0080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70" kern="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TWĀALA  •  CONFIDENTIAL HACKATHON PITCH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06424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NOW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practical stack makes the vision buildable without pretending Twaala is a bank.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901952"/>
            <a:ext cx="10908792" cy="0"/>
          </a:xfrm>
          <a:prstGeom prst="line">
            <a:avLst/>
          </a:prstGeom>
          <a:noFill/>
          <a:ln w="12700">
            <a:solidFill>
              <a:srgbClr val="D8E4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2331720"/>
            <a:ext cx="3310128" cy="32004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2331720"/>
            <a:ext cx="3310128" cy="612648"/>
          </a:xfrm>
          <a:prstGeom prst="roundRect">
            <a:avLst>
              <a:gd name="adj" fmla="val 26866"/>
            </a:avLst>
          </a:prstGeom>
          <a:solidFill>
            <a:srgbClr val="063A45"/>
          </a:solidFill>
          <a:ln w="12700">
            <a:solidFill>
              <a:srgbClr val="063A45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53288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TWAALA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61288" y="322783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0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Beneficiary experience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73075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61288" y="371246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0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 + goals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4215384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61288" y="419709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0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Receipts + notifications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4700016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61288" y="468172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0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Routing intelligence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07408" y="2331720"/>
            <a:ext cx="3310128" cy="32004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07408" y="2331720"/>
            <a:ext cx="3310128" cy="612648"/>
          </a:xfrm>
          <a:prstGeom prst="roundRect">
            <a:avLst>
              <a:gd name="adj" fmla="val 26866"/>
            </a:avLst>
          </a:prstGeom>
          <a:solidFill>
            <a:srgbClr val="0C8A68"/>
          </a:solidFill>
          <a:ln w="12700">
            <a:solidFill>
              <a:srgbClr val="0C8A6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36008" y="253288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REGULATED PARTNERS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63440" y="3246120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10328" y="322783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0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Transak: fiat-to-USDC checkout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63440" y="373075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910328" y="371246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0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Kotani: mobile-money delivery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63440" y="4215384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10328" y="419709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0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KYC / AML / custody / FX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63440" y="4700016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910328" y="468172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0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payout operations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156448" y="2331720"/>
            <a:ext cx="3310128" cy="32004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56448" y="2331720"/>
            <a:ext cx="3310128" cy="612648"/>
          </a:xfrm>
          <a:prstGeom prst="roundRect">
            <a:avLst>
              <a:gd name="adj" fmla="val 26866"/>
            </a:avLst>
          </a:prstGeom>
          <a:solidFill>
            <a:srgbClr val="197E9D"/>
          </a:solidFill>
          <a:ln w="12700">
            <a:solidFill>
              <a:srgbClr val="197E9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85048" y="253288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STELLAR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412480" y="3246120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97E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659368" y="322783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0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Low-cost settlement rail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412480" y="373075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97E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659368" y="371246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0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USDC transport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412480" y="4215384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97E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659368" y="419709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0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Testnet proof for demo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412480" y="4700016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97E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659368" y="468172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0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Public-network path to launch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0080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70" kern="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TWĀALA  •  CONFIDENTIAL HACKATHON PITCH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106424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COMPETITIVE EDGE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BOTIM and broad remittance apps move money. Twaala makes family money accountable.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901952"/>
            <a:ext cx="10908792" cy="0"/>
          </a:xfrm>
          <a:prstGeom prst="line">
            <a:avLst/>
          </a:prstGeom>
          <a:noFill/>
          <a:ln w="12700">
            <a:solidFill>
              <a:srgbClr val="D8E4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2240280"/>
            <a:ext cx="10844784" cy="521208"/>
          </a:xfrm>
          <a:prstGeom prst="roundRect">
            <a:avLst>
              <a:gd name="adj" fmla="val 31579"/>
            </a:avLst>
          </a:prstGeom>
          <a:solidFill>
            <a:srgbClr val="063A45"/>
          </a:solidFill>
          <a:ln w="12700">
            <a:solidFill>
              <a:srgbClr val="063A45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4231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MATTERS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60520" y="24231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BROAD REMITTANCE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61504" y="24231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TWĀALA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" y="2816352"/>
            <a:ext cx="10844784" cy="566928"/>
          </a:xfrm>
          <a:prstGeom prst="roundRect">
            <a:avLst>
              <a:gd name="adj" fmla="val 2903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98094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Family-purpose transfers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60520" y="298094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Generic transfer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61504" y="296265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Goal-linked, named beneficiary, visible receipt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" y="3465576"/>
            <a:ext cx="10844784" cy="566928"/>
          </a:xfrm>
          <a:prstGeom prst="roundRect">
            <a:avLst>
              <a:gd name="adj" fmla="val 29032"/>
            </a:avLst>
          </a:prstGeom>
          <a:solidFill>
            <a:srgbClr val="F0F5F2"/>
          </a:solidFill>
          <a:ln w="12700">
            <a:solidFill>
              <a:srgbClr val="F0F5F2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63016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after send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160520" y="363016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 only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61504" y="361188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Recipient Passport + proof + family history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8368" y="4114800"/>
            <a:ext cx="10844784" cy="566928"/>
          </a:xfrm>
          <a:prstGeom prst="roundRect">
            <a:avLst>
              <a:gd name="adj" fmla="val 2903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427939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Blockchain role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160520" y="427939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Often invisible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61504" y="426110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Live, explorable Stellar settlement proof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8368" y="4764024"/>
            <a:ext cx="10844784" cy="566928"/>
          </a:xfrm>
          <a:prstGeom prst="roundRect">
            <a:avLst>
              <a:gd name="adj" fmla="val 29032"/>
            </a:avLst>
          </a:prstGeom>
          <a:solidFill>
            <a:srgbClr val="F0F5F2"/>
          </a:solidFill>
          <a:ln w="12700">
            <a:solidFill>
              <a:srgbClr val="F0F5F2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49286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Expansion strategy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160520" y="492861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Many corridors first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61504" y="491032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 UAE → Uganda family use cases; replicate by corridor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70" kern="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TWĀALA  •  CONFIDENTIAL HACKATHON PITCH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06424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GO-TO-MARKET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one high-trust corridor, then earn the right to expand.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901952"/>
            <a:ext cx="10908792" cy="0"/>
          </a:xfrm>
          <a:prstGeom prst="line">
            <a:avLst/>
          </a:prstGeom>
          <a:noFill/>
          <a:ln w="12700">
            <a:solidFill>
              <a:srgbClr val="D8E4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423160"/>
            <a:ext cx="3255264" cy="24688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697480"/>
            <a:ext cx="1600200" cy="320040"/>
          </a:xfrm>
          <a:prstGeom prst="roundRect">
            <a:avLst>
              <a:gd name="adj" fmla="val 51429"/>
            </a:avLst>
          </a:prstGeom>
          <a:solidFill>
            <a:srgbClr val="DFF7EA"/>
          </a:solidFill>
          <a:ln w="12700">
            <a:solidFill>
              <a:srgbClr val="DFF7E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71576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• HACKATHON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14400" y="331927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 behavior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3867912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Diaspora interview loop, beneficiary-first UX, Testnet settlement proof.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2423160"/>
            <a:ext cx="3255264" cy="24688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2697480"/>
            <a:ext cx="1600200" cy="320040"/>
          </a:xfrm>
          <a:prstGeom prst="roundRect">
            <a:avLst>
              <a:gd name="adj" fmla="val 51429"/>
            </a:avLst>
          </a:prstGeom>
          <a:solidFill>
            <a:srgbClr val="B8F23A"/>
          </a:solidFill>
          <a:ln w="12700">
            <a:solidFill>
              <a:srgbClr val="B8F23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271576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• PILOT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617720" y="331927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 demand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617720" y="3867912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UAE–Uganda community pilot with regulated on-ramp and payout partners.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92440" y="2423160"/>
            <a:ext cx="3255264" cy="24688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2697480"/>
            <a:ext cx="1600200" cy="320040"/>
          </a:xfrm>
          <a:prstGeom prst="roundRect">
            <a:avLst>
              <a:gd name="adj" fmla="val 51429"/>
            </a:avLst>
          </a:prstGeom>
          <a:solidFill>
            <a:srgbClr val="DFF7EA"/>
          </a:solidFill>
          <a:ln w="12700">
            <a:solidFill>
              <a:srgbClr val="DFF7E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271576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• SCALE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321040" y="331927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 repeatability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321040" y="3867912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new diaspora corridors and purpose-based verticals: school, construction, health.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14400" y="542239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user: an East African diaspora worker who sends money home regularly and wants confidence, clarity and family progress.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70" kern="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TWĀALA  •  CONFIDENTIAL HACKATHON PITCH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06424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SCRIPT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crisp 90-second experience for judges.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901952"/>
            <a:ext cx="10908792" cy="0"/>
          </a:xfrm>
          <a:prstGeom prst="line">
            <a:avLst/>
          </a:prstGeom>
          <a:noFill/>
          <a:ln w="12700">
            <a:solidFill>
              <a:srgbClr val="D8E4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8600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00:00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00200" y="2395728"/>
            <a:ext cx="320040" cy="0"/>
          </a:xfrm>
          <a:prstGeom prst="line">
            <a:avLst/>
          </a:prstGeom>
          <a:noFill/>
          <a:ln w="25400">
            <a:solidFill>
              <a:srgbClr val="0C8A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48840" y="21945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or select a recipient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83480" y="219456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Name, phone, MTN/Airtel, relationship and purpose.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98094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00:18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00200" y="3090672"/>
            <a:ext cx="320040" cy="0"/>
          </a:xfrm>
          <a:prstGeom prst="line">
            <a:avLst/>
          </a:prstGeom>
          <a:noFill/>
          <a:ln w="25400">
            <a:solidFill>
              <a:srgbClr val="0C8A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48840" y="28895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Transak checkout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2889504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the real partner-led KYC/payment experience when configured.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67588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00:38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600200" y="3785616"/>
            <a:ext cx="320040" cy="0"/>
          </a:xfrm>
          <a:prstGeom prst="line">
            <a:avLst/>
          </a:prstGeom>
          <a:noFill/>
          <a:ln w="25400">
            <a:solidFill>
              <a:srgbClr val="0C8A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48840" y="35844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Stellar Testnet proof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83480" y="358444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 test USDC and open the live transaction in Stellar Expert.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437083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00:58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600200" y="4480560"/>
            <a:ext cx="320040" cy="0"/>
          </a:xfrm>
          <a:prstGeom prst="line">
            <a:avLst/>
          </a:prstGeom>
          <a:noFill/>
          <a:ln w="25400">
            <a:solidFill>
              <a:srgbClr val="0C8A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48840" y="42793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 to beneficiary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83480" y="427939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the on-chain USDC payment and start the payout status journey.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506577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01:18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600200" y="5175504"/>
            <a:ext cx="320040" cy="0"/>
          </a:xfrm>
          <a:prstGeom prst="line">
            <a:avLst/>
          </a:prstGeom>
          <a:noFill/>
          <a:ln w="25400">
            <a:solidFill>
              <a:srgbClr val="0C8A6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48840" y="49743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family receipt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83480" y="4974336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Amount, recipient, purpose, status and immutable proof link.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5800" y="5669280"/>
            <a:ext cx="10789920" cy="457200"/>
          </a:xfrm>
          <a:prstGeom prst="roundRect">
            <a:avLst>
              <a:gd name="adj" fmla="val 36000"/>
            </a:avLst>
          </a:prstGeom>
          <a:solidFill>
            <a:srgbClr val="DFF7EA"/>
          </a:solidFill>
          <a:ln w="12700">
            <a:solidFill>
              <a:srgbClr val="DFF7EA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5788152"/>
            <a:ext cx="10287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Judge takeaway: Twaala has a human reason to exist, a credible regulated path, and blockchain proof they can inspect themselves.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0080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70" kern="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TWĀALA  •  CONFIDENTIAL HACKATHON PITCH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06424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3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21792"/>
            <a:ext cx="914400" cy="320040"/>
          </a:xfrm>
          <a:prstGeom prst="roundRect">
            <a:avLst>
              <a:gd name="adj" fmla="val 51429"/>
            </a:avLst>
          </a:prstGeom>
          <a:solidFill>
            <a:srgbClr val="0F5D58"/>
          </a:solidFill>
          <a:ln w="12700">
            <a:solidFill>
              <a:srgbClr val="0F5D5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640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F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6675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 us make family money</a:t>
            </a:r>
            <a:endParaRPr lang="en-US" sz="3500" dirty="0"/>
          </a:p>
          <a:p>
            <a:pPr algn="l"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trustworthy.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713232" y="2871216"/>
            <a:ext cx="5989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C7E9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are seeking pilot users, regulated payout/on-ramp partners, and mentors who understand diaspora financial behavior.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0" y="1078992"/>
            <a:ext cx="3474720" cy="4160520"/>
          </a:xfrm>
          <a:prstGeom prst="roundRect">
            <a:avLst>
              <a:gd name="adj" fmla="val 4737"/>
            </a:avLst>
          </a:prstGeom>
          <a:solidFill>
            <a:srgbClr val="0F5D58"/>
          </a:solidFill>
          <a:ln w="12700">
            <a:solidFill>
              <a:srgbClr val="0F5D5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09560" y="16002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spc="1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TWĀALA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909560" y="24231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8F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Diaspora → family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B8F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→ progress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028432" y="3401568"/>
            <a:ext cx="2395728" cy="0"/>
          </a:xfrm>
          <a:prstGeom prst="line">
            <a:avLst/>
          </a:prstGeom>
          <a:noFill/>
          <a:ln w="12700">
            <a:solidFill>
              <a:srgbClr val="5CA7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09560" y="37307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purpose-led remittance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experience on Stellar.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3232" y="60624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8F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680960" y="608076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B5D7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Twaala  •  DevFest Blockchain Hackathon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Twaala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Twaala — Family money, made visible</dc:title>
  <dc:subject>Twaala pitch deck</dc:subject>
  <dc:creator>Twaala</dc:creator>
  <cp:lastModifiedBy>Twaala</cp:lastModifiedBy>
  <cp:revision>1</cp:revision>
  <dcterms:created xsi:type="dcterms:W3CDTF">2026-07-24T13:02:34Z</dcterms:created>
  <dcterms:modified xsi:type="dcterms:W3CDTF">2026-07-24T13:02:34Z</dcterms:modified>
</cp:coreProperties>
</file>